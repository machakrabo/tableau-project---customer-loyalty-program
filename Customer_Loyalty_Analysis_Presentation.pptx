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Revenue by Country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4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759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US</c:v>
                  </c:pt>
                  <c:pt idx="1">
                    <c:v>Canada</c:v>
                  </c:pt>
                  <c:pt idx="2">
                    <c:v>UK</c:v>
                  </c:pt>
                  <c:pt idx="3">
                    <c:v>Germany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59.5</c:v>
                </c:pt>
                <c:pt idx="1">
                  <c:v>58.1</c:v>
                </c:pt>
                <c:pt idx="2">
                  <c:v>57.7</c:v>
                </c:pt>
                <c:pt idx="3">
                  <c:v>53.5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Transactions by Tier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Platinum</c:v>
                </c:pt>
                <c:pt idx="1">
                  <c:v>Gold</c:v>
                </c:pt>
                <c:pt idx="2">
                  <c:v>Bronze</c:v>
                </c:pt>
                <c:pt idx="3">
                  <c:v>Silver</c:v>
                </c:pt>
                <c:pt idx="4">
                  <c:v>Elite</c:v>
                </c:pt>
                <c:pt idx="5">
                  <c:v>VIP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14447</c:v>
                </c:pt>
                <c:pt idx="1">
                  <c:v>14390</c:v>
                </c:pt>
                <c:pt idx="2">
                  <c:v>14312</c:v>
                </c:pt>
                <c:pt idx="3">
                  <c:v>13985</c:v>
                </c:pt>
                <c:pt idx="4">
                  <c:v>13752</c:v>
                </c:pt>
                <c:pt idx="5">
                  <c:v>13550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Revenue by Product Line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4E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C4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7598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TV &amp; Video Gaming</c:v>
                  </c:pt>
                  <c:pt idx="1">
                    <c:v>Computers &amp; Home Office</c:v>
                  </c:pt>
                  <c:pt idx="2">
                    <c:v>Photography</c:v>
                  </c:pt>
                  <c:pt idx="3">
                    <c:v>Kitchen Appliances</c:v>
                  </c:pt>
                  <c:pt idx="4">
                    <c:v>Smart 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97.8</c:v>
                </c:pt>
                <c:pt idx="1">
                  <c:v>85.7</c:v>
                </c:pt>
                <c:pt idx="2">
                  <c:v>24.3</c:v>
                </c:pt>
                <c:pt idx="3">
                  <c:v>15.9</c:v>
                </c:pt>
                <c:pt idx="4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Revenue by Year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($M)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891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47.5</c:v>
                </c:pt>
                <c:pt idx="1">
                  <c:v>39.5</c:v>
                </c:pt>
                <c:pt idx="2">
                  <c:v>51.4</c:v>
                </c:pt>
                <c:pt idx="3">
                  <c:v>60.3</c:v>
                </c:pt>
                <c:pt idx="4">
                  <c:v>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891B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Transactions by Coupon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4E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C4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7598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Coupon 1</c:v>
                  </c:pt>
                  <c:pt idx="1">
                    <c:v>Coupon 2</c:v>
                  </c:pt>
                  <c:pt idx="2">
                    <c:v>Coupon 4</c:v>
                  </c:pt>
                  <c:pt idx="3">
                    <c:v>Coupon 6</c:v>
                  </c:pt>
                  <c:pt idx="4">
                    <c:v>Coupon 3</c:v>
                  </c:pt>
                  <c:pt idx="5">
                    <c:v>Coupon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42576</c:v>
                </c:pt>
                <c:pt idx="1">
                  <c:v>17441</c:v>
                </c:pt>
                <c:pt idx="2">
                  <c:v>16640</c:v>
                </c:pt>
                <c:pt idx="3">
                  <c:v>4501</c:v>
                </c:pt>
                <c:pt idx="4">
                  <c:v>1744</c:v>
                </c:pt>
                <c:pt idx="5">
                  <c:v>1534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F3C"/>
                </a:solidFill>
                <a:latin typeface="Arial"/>
              </a:rPr>
              <a:t>CLV Distribution (Approx. by Bucket)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in Range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&lt;$2K</c:v>
                  </c:pt>
                  <c:pt idx="1">
                    <c:v>$2K–$4K</c:v>
                  </c:pt>
                  <c:pt idx="2">
                    <c:v>$4K–$6K</c:v>
                  </c:pt>
                  <c:pt idx="3">
                    <c:v>$6K–$9K</c:v>
                  </c:pt>
                  <c:pt idx="4">
                    <c:v>$9K–$20K</c:v>
                  </c:pt>
                  <c:pt idx="5">
                    <c:v>&gt;$20K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21109</c:v>
                </c:pt>
                <c:pt idx="2">
                  <c:v>16905</c:v>
                </c:pt>
                <c:pt idx="3">
                  <c:v>21109</c:v>
                </c:pt>
                <c:pt idx="4">
                  <c:v>16905</c:v>
                </c:pt>
                <c:pt idx="5">
                  <c:v>8210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scope: 4 countries, 6 loyalty tiers, 5 product lines, 5-year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KPIs. Revenue is evenly split across all four markets. Average CLV of $8,007 indicates healthy long-term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fields covering demographics, geography, loyalty tier, and transactional data. All views in the workbook draw from the single CustomerLoyaltyProgram datasource.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and transactions are balanced across all four markets. The RevenueQTYSold worksheet provides a geographic map drill-down.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tiers (Bronze, Silver, Gold, Platinum, Elite, VIP) are within 7% of each other by transaction count. This even distribution suggests the loyalty model is functioning as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product lines dominate revenue. Smart Electronics has a relatively high transaction count but low average revenue per sale compared to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2019 was the peak year. 2017 shows an unexplained dip worth investigating. 2020 data may be partial — confirm whether the full year was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Marketing Response by Department and QtyCouponResponse worksheets break this down further by product line and quantity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CLV is right-skewed. Focus retention efforts on the top quintile whose CLV exceeds $9K, and study their purchasing patterns to replicate with mid-tier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enables cross-filter interactions. Clicking a country on the map filters all other charts. Point users to Dashboard 1 as the entry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Emphasize the 2017 dip and Coupon 1 dominance as the two most actionable items. CLV skew suggests a natural VIP tier upgrade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17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Analysis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behavior, tier performance, and marketing impact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countries · 63,228 customers · 2016–2020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52848"/>
          </a:solidFill>
          <a:ln w="12700">
            <a:solidFill>
              <a:srgbClr val="1528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CustomerLoyaltyProgram.csv   |   84,436 transactions   |   Tableau 2026.1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$228.7M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78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63,228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7899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$8,007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621792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Lifetime Value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163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5760" y="32186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3657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4612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16352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32186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84,436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329184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7220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1635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32186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 yrs</a:t>
            </a:r>
            <a:endParaRPr lang="en-US" sz="2800" dirty="0"/>
          </a:p>
        </p:txBody>
      </p:sp>
      <p:sp>
        <p:nvSpPr>
          <p:cNvPr id="27" name="Text 19"/>
          <p:cNvSpPr/>
          <p:nvPr/>
        </p:nvSpPr>
        <p:spPr>
          <a:xfrm>
            <a:off x="621792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Membership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474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CustomerLoyaltyProgram.csv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84,436 transactions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2016 – 2020 (Quarterly)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28 fields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9144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0" y="987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261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Gender · Education · Marital Status · Income · Location Code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9933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2677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· Province/State · City · Postal Code · Lat/Long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9260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2999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Loyalty# · LoyaltyStatus · Months As Member · Loyalty 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39319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40050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4279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 · Quarter · Product Line · Coupon Response · Quantity Sold · Revenue · CLV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1440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1234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$59.5M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4447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Txns: 22,039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75320" y="1097280"/>
            <a:ext cx="475488" cy="47548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47888" y="115214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94960" y="187452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1929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21945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$58.1M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404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Txns: 21,797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2057400"/>
            <a:ext cx="475488" cy="47548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7888" y="211226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94960" y="283464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7784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3154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$57.7M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3364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Txns: 20,774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75320" y="3017520"/>
            <a:ext cx="475488" cy="47548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307238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94960" y="379476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577840" y="3849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77840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$53.5M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77840" y="4325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Txns: 19,826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3977640"/>
            <a:ext cx="475488" cy="47548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47888" y="403250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Breakdown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3977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tiers are evenly distributed — a sign of healthy, balanced program design with engagement at every level.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TV &amp; Video Gaming and Computers &amp; Home Office together account for 80.6% of total revenue ($183.5M of $228.7M).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2016–2020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1440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9692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29400" y="11521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$47.5M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29400" y="13716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year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92240" y="1682496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737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2940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$39.5M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21396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−17% dip — investigation needed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92240" y="2450592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29400" y="2505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$51.4M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29400" y="29077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recovery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92240" y="3218688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29400" y="3273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2940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$60.3M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36758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↑ best performance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92240" y="3986784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4041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29400" y="4224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44439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— possible data truncation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Marketing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868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23560" y="132588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417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Coupon 1 alone covers 50.4% of all transactions — dominant response driver.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23560" y="21762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267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Coupons 2 &amp; 4 together add another 40.4%, forming the 'top 3' core.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302666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31181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Coupons 3, 5, and 6 have minimal uptake (under 9% combined).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23560" y="387705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3968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Reallocating budget from low-uptake coupons to Coupon 1 variants may improve ROI.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868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Statistics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23560" y="12344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2893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760720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CLV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2121408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2176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$5,781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760720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23560" y="3008376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$83,325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760720" y="3438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CLV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3895344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$1,898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60720" y="4325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CLV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235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($8,007) is significantly higher than the median ($5,781), indicating a small segment of very high-value customers pulling the average up.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RevenueQTYSold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13167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 showing revenue &amp; quantity sold by location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9144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005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LTV by City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212080" y="13167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bar + line: CLV and Quantity Sold per city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2103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Response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14400" y="25054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uptake by department (scatter/shape chart)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17720" y="2103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77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QtyCouponResponse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212080" y="25054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 breakdown by coupon type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468880" y="32918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3566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6324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DeptSales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063240" y="369417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sales scatter plot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worksheets are combined in Dashboard 1, with interactive filter actions for cross-chart exploration.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52848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Global Footprint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167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spread across US, Canada, UK, and Germany. No single market dominates — enabling risk-diversified growth.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52848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05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5780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&amp; Computing Drive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57800" y="13167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 lines contribute over 80% of revenue. Prioritize inventory, promotions, and loyalty perks in these categories.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52848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1 Monopolizes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50% of transactions use Coupon 1. Audit whether Coupons 3, 5, and 6 are worth the operational overhead.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52848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High-CLV Customers are an Asset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6426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CLV ($8,007) exceeds median ($5,781). Identify and retain the top decile; their pattern can inform VIP acquisition.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52848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57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Dip Needs Root Cause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6849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17% year-over-year in 2017 before recovering. Investigate pricing changes, supply disruptions, or data gaps.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Loyalty Program Analysis</dc:title>
  <dc:subject>PptxGenJS Presentation</dc:subject>
  <dc:creator>PptxGenJS</dc:creator>
  <cp:lastModifiedBy>PptxGenJS</cp:lastModifiedBy>
  <cp:revision>1</cp:revision>
  <dcterms:created xsi:type="dcterms:W3CDTF">2026-06-28T18:01:25Z</dcterms:created>
  <dcterms:modified xsi:type="dcterms:W3CDTF">2026-06-28T18:01:25Z</dcterms:modified>
</cp:coreProperties>
</file>